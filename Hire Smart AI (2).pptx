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0" autoAdjust="0"/>
    <p:restoredTop sz="94610"/>
  </p:normalViewPr>
  <p:slideViewPr>
    <p:cSldViewPr snapToGrid="0" snapToObjects="1">
      <p:cViewPr>
        <p:scale>
          <a:sx n="159" d="100"/>
          <a:sy n="159" d="100"/>
        </p:scale>
        <p:origin x="15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400</c:v>
                </c:pt>
                <c:pt idx="2">
                  <c:v>900</c:v>
                </c:pt>
                <c:pt idx="3">
                  <c:v>1800</c:v>
                </c:pt>
                <c:pt idx="4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E2-4FCF-B869-8116FFA623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 ($K)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</c:v>
                </c:pt>
                <c:pt idx="1">
                  <c:v>330</c:v>
                </c:pt>
                <c:pt idx="2">
                  <c:v>550</c:v>
                </c:pt>
                <c:pt idx="3">
                  <c:v>950</c:v>
                </c:pt>
                <c:pt idx="4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E2-4FCF-B869-8116FFA623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 ($K)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-60</c:v>
                </c:pt>
                <c:pt idx="1">
                  <c:v>70</c:v>
                </c:pt>
                <c:pt idx="2">
                  <c:v>350</c:v>
                </c:pt>
                <c:pt idx="3">
                  <c:v>850</c:v>
                </c:pt>
                <c:pt idx="4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E2-4FCF-B869-8116FFA623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25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1097280" cy="1097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 AI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9144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Affordable AI-Powered Recruitment for SMEs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Project  |  MBA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Abdul Muqeet  ·  Bharat Kumar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broken for small businesses.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651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7373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32461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SMEs spend filling a single role through manual screening.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417320"/>
            <a:ext cx="1920240" cy="2651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0" y="1417320"/>
            <a:ext cx="19202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173736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56032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/year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24912" y="32461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enterprise AI hiring tools — out of reach for most SMEs.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63440" y="1417320"/>
            <a:ext cx="1920240" cy="2651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63440" y="1417320"/>
            <a:ext cx="19202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380" y="173736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4828032" y="32461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 systematically distorts human hiring decisions (Kahneman, 2011).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0" y="1417320"/>
            <a:ext cx="1920240" cy="2651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766560" y="1417320"/>
            <a:ext cx="19202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173736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6656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67665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931152" y="32461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provide no transparency, limiting trust and adoption.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expensive, biased hiring — at the exact stage when small businesses can least afford a bad hire.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fairer hiring — built for growing businesses.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0744" y="1399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Candidate Screening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80744" y="16916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resume and application screening, drastically reducing manual effort.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093976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3113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0744" y="2075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Fairness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80744" y="2368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comes with clear, auditable reasoning — no black-box decisions.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770632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0779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0744" y="27523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Collaboration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80744" y="30449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machine efficiency with human oversight for ethical hiring outcomes.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447288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844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0744" y="3429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 Dashboard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80744" y="3721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fairness monitoring across protected candidate categories.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123944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6110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0744" y="41056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80744" y="43982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performance reporting and continuous improvement insights.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multi-billion-dollar opportunity hiding in plain sight.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3383280" cy="33832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2057400"/>
            <a:ext cx="2377440" cy="2377440"/>
          </a:xfrm>
          <a:prstGeom prst="ellipse">
            <a:avLst/>
          </a:prstGeom>
          <a:solidFill>
            <a:srgbClr val="8FB3E2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0" y="2651760"/>
            <a:ext cx="1188720" cy="1188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18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2710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17099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HR technology market by 2027 (Grand View Research, 2023).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3682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≈$7B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28072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SMEs (10+ employees) actively hiring, at $1,200/yr avg recruitment software spend.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520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3465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≈$35M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Year 5 capture — just 0.5% of U.S. SAM = ~30K paying customers.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transparent, and built for SMEs.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0" y="1417320"/>
            <a:ext cx="1828800" cy="54864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3108960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  |  Workday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108960" cy="24231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0" y="1965960"/>
            <a:ext cx="3108960" cy="24231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196596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– $199 / month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96596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$10,000+ / year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245059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45059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&amp; Startups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245059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2450592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23560" y="2450592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935224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93522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293522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35224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23560" y="2935224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0" y="3419856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419856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419856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add-on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419856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23560" y="3419856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3904488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390448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no 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390448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requires IT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3904488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23560" y="3904488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 fills the gap between manual hiring and unaffordable enterprise AI (Porter, 1985).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&amp;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 — and why incumbents can't easily copy.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1508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" cy="1508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733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Network Effects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with each customer's hiring patterns and outcomes — accuracy compounds over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886200" cy="1508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73152" cy="1508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7335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9842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 on a customer's role criteria and bias baselines, moving to a competitor means starting over.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886200" cy="1508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73152" cy="1508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5643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Depth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673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and payroll integrations (Gusto, Rippling) create multi-system stickiness enterprises can't easily match.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886200" cy="150876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3200400"/>
            <a:ext cx="73152" cy="1508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564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Ethics-First Brand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673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positioning under EU AI Act, NYC LL144, Colorado AI Act builds trust that's hard to copy.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 — designed for SME budgets.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2377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job postings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screenings/mo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377440" cy="2743200"/>
          </a:xfrm>
          <a:prstGeom prst="rect">
            <a:avLst/>
          </a:prstGeom>
          <a:solidFill>
            <a:srgbClr val="1E2761"/>
          </a:solidFill>
          <a:ln w="19050">
            <a:solidFill>
              <a:srgbClr val="C9A22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94760" y="1261872"/>
            <a:ext cx="1554480" cy="23774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261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job postings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AI screenings/mo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2377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postings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dashboard</a:t>
            </a:r>
            <a:endParaRPr lang="en-US" sz="11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CSM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promise: </a:t>
            </a: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“Smarter, Fairer Hiring — Built for Growing Businesses.”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Content-led growth. Low-CAC channels first.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916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600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33272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guides and bias-reduction resources for SME HR pros.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14173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6916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13632" y="1600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B2B Ads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13632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 reaching HR managers at 10–500 person firms.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0760" y="14173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6916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93992" y="1600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793992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distribution via Gusto, Rippling, and ATS platforms.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292608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20040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3272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Funnel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33272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— product experience drives conversion.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0" y="292608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0040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13632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913632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free per successful referral — compounding low CAC.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80760" y="292608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20040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93992" y="3108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Webinars &amp; Thought Lead.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793992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ethical hiring webinars build authority and pipeline.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$60   |   CAC $120   |   LTV $1,080   |   LTV / CAC = 9 : 1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by Year 2. Profitable scale by Year 3.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17320"/>
            <a:ext cx="2743200" cy="9144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26480" y="141732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91072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91072" y="1984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2423160"/>
            <a:ext cx="2743200" cy="9144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242316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91072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91072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Profit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3429000"/>
            <a:ext cx="2743200" cy="9144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342900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91072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91072" y="3995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Net Margin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thousands ($K)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seed → break-even → Series 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7680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2907792"/>
            <a:ext cx="219456" cy="21945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907792"/>
            <a:ext cx="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1828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1828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828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0–1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2907792"/>
            <a:ext cx="219456" cy="21945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3127248"/>
            <a:ext cx="0" cy="27432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$100–150K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2907792"/>
            <a:ext cx="219456" cy="21945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0" y="2907792"/>
            <a:ext cx="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$275K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Grant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 (non-dilutive)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85232" y="2907792"/>
            <a:ext cx="219456" cy="21945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94960" y="3127248"/>
            <a:ext cx="0" cy="27432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$50K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 Microloan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9712" y="2907792"/>
            <a:ext cx="219456" cy="21945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49440" y="2907792"/>
            <a:ext cx="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$1M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50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(Year 1, $250K total):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40% ($100K)   ·   Sales &amp; Marketing 30% ($75K)   ·   Operations 20% ($50K)   ·   Legal &amp; Compliance 10% ($25K)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international scale in 36 months.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15544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353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platform, AI model training, internal testing.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39112" y="141732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39112" y="141732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8608" y="15544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786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39112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9112" y="2606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2971800"/>
            <a:ext cx="1353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with 10 SME clients, bias audits, UX refinement.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58184" y="141732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58184" y="141732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58184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58184" y="2606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95344" y="2971800"/>
            <a:ext cx="1353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launch, marketing campaign, partnership outreach.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77256" y="141732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77256" y="141732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16752" y="15544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1675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77256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77256" y="2606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13–24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2971800"/>
            <a:ext cx="1353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300+ paying customers, ATS/payroll integrations, Series 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96328" y="141732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96328" y="1417320"/>
            <a:ext cx="162763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35824" y="155448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358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96328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6328" y="2606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25–36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33488" y="2971800"/>
            <a:ext cx="1353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&amp; UK market entry, target 1,500+ paying customers.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what matters across four perspectives.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92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profitability &amp; cost control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258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· Gross margin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514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100%+ YoY through Y3 · &gt;65% margin by Y2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417320"/>
            <a:ext cx="388620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3886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830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600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32120" y="1892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&amp; retain SME customer base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92040" y="2258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 · NRR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2514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MAU by Year 1 · NRR &gt;110%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3108960"/>
            <a:ext cx="388620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3108960"/>
            <a:ext cx="3886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47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3291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Processes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7160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fair AI screening at scale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3152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Time-to-shortlist · Bias audit pass rate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31520" y="4206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· &gt;98% audit pass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09160" y="3108960"/>
            <a:ext cx="388620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709160" y="3108960"/>
            <a:ext cx="3886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7472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32120" y="3291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Growth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53212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&amp; diverse team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89204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· Diversity in hiring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892040" y="4206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 · &gt;40% diverse hires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Kaplan &amp; Norton (1992). The balanced scorecard: Measures that drive performance.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ETHICS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regulated future of AI hiring.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75488" cy="237744"/>
          </a:xfrm>
          <a:prstGeom prst="roundRect">
            <a:avLst>
              <a:gd name="adj" fmla="val 19231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24128" y="174650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0299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legal counsel; geo-by-geo rollout aligned with EU AI Act, NYC LL144, Colorado AI Act.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475488" cy="237744"/>
          </a:xfrm>
          <a:prstGeom prst="roundRect">
            <a:avLst>
              <a:gd name="adj" fmla="val 19231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45973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niche focus; rapid iteration; data &amp; switching-cost moat.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475488" cy="237744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0954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317296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456432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bias audits, explainability tools, diverse training data, quarterly fairness reviews.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475488" cy="237744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24128" y="38862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41696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SOC 2 compliance, regular third-party audits.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Built In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830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40680" y="1737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20208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is explainable to recruiters and candidates.</a:t>
            </a:r>
            <a:endParaRPr lang="en-US" sz="1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96312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40680" y="24505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40680" y="27340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bias detection across protected categories.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09544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440680" y="31638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40680" y="3447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 for every final hiring decision.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22776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40680" y="3877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40680" y="4160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GDPR &amp; CCPA compliance, secure by design.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fixing how the world's small businesses hire.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9144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" y="1965960"/>
            <a:ext cx="2606040" cy="2377440"/>
          </a:xfrm>
          <a:prstGeom prst="rect">
            <a:avLst/>
          </a:prstGeom>
          <a:solidFill>
            <a:srgbClr val="13194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8620" y="2240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88620" y="3044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equity, angels, SBIR grant, and SBA microloan to fund Year 1 build &amp; launch.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8980" y="1965960"/>
            <a:ext cx="2606040" cy="2377440"/>
          </a:xfrm>
          <a:prstGeom prst="rect">
            <a:avLst/>
          </a:prstGeom>
          <a:solidFill>
            <a:srgbClr val="13194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8980" y="2240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68980" y="3044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break-even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758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210+ paying customers and turn profitable by Year 2 on the SaaS cost structure.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9340" y="1965960"/>
            <a:ext cx="2606040" cy="2377440"/>
          </a:xfrm>
          <a:prstGeom prst="rect">
            <a:avLst/>
          </a:prstGeom>
          <a:solidFill>
            <a:srgbClr val="13194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9340" y="2240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49340" y="3044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794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hiring regulation is arriving. Ethics-first platforms will define the next decade.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fairer hiring — built for growing businesses.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throughout this presentation.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Bass, B. M., &amp; Riggio, R. E. (2006).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 leadership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(2nd ed.). Lawrence Erlbaum Associates.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Brynjolfsson, E., &amp; McAfee, A. (2014).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machine age: Work, progress, and prosperity in a time of brilliant technologies.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W. Norton &amp; Company.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Goleman, D. (1998).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emotional intelligence.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Bantam Books.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Research. (2023).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technology market size, share &amp; trends analysis report.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https://www.grandviewresearch.com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79476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Kahneman, D. (2011).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Thinking, fast and slow.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Farrar, Straus and Giroux.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Kaplan, R. S., &amp; Norton, D. P. (1992). The balanced scorecard: Measures that drive performance.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Review, 70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71–79.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Osterwalder, A., &amp; Pigneur, Y. (2010).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Wiley &amp; Sons.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Porter, M. E. (1985). </a:t>
            </a: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advantage: Creating and sustaining superior performance.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94760"/>
            <a:ext cx="36576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7th edition formatting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234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4" name="Shape 1"/>
          <p:cNvSpPr/>
          <p:nvPr/>
        </p:nvSpPr>
        <p:spPr>
          <a:xfrm>
            <a:off x="4114800" y="2788920"/>
            <a:ext cx="9144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challenges, and feedback welcome.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3662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HireSmart AI  |  Capstone Final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640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Abdul Muqeet  ·  Bharat Kumar  ·  MBA Program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8874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Fairer Hiring — Built for Growing Businesses.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Office PowerPoint</Application>
  <PresentationFormat>On-screen Show (16:9)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HireSmart AI — Capstone Pitch</dc:title>
  <dc:subject>PptxGenJS Presentation</dc:subject>
  <dc:creator>Mohammed Abdul Muqeet, Bharat Kumar</dc:creator>
  <cp:lastModifiedBy>Mohammed Abdul Muqeet</cp:lastModifiedBy>
  <cp:revision>2</cp:revision>
  <dcterms:created xsi:type="dcterms:W3CDTF">2026-04-30T03:00:33Z</dcterms:created>
  <dcterms:modified xsi:type="dcterms:W3CDTF">2026-04-30T03:09:23Z</dcterms:modified>
</cp:coreProperties>
</file>